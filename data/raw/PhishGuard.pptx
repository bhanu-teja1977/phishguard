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2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2430" y="685800"/>
            <a:ext cx="1645920" cy="1645920"/>
          </a:xfrm>
          <a:prstGeom prst="ellipse">
            <a:avLst/>
          </a:prstGeom>
          <a:solidFill>
            <a:srgbClr val="16305C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3" name="Image 0" descr="/home/claude/phishguard/icons/shield-check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762" y="1056132"/>
            <a:ext cx="905256" cy="9052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72430" y="685800"/>
            <a:ext cx="1645920" cy="1645920"/>
          </a:xfrm>
          <a:prstGeom prst="ellipse">
            <a:avLst/>
          </a:prstGeom>
          <a:ln w="19050">
            <a:solidFill>
              <a:srgbClr val="FF5A5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PHISHGUARD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371600" y="333756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Machine Learning-Based Phishing URL Risk Scoring System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3794760"/>
            <a:ext cx="9448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binary phishing verdicts to calibrated, human-readable risk intelligence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75208" y="4709160"/>
            <a:ext cx="3200400" cy="960120"/>
          </a:xfrm>
          <a:prstGeom prst="roundRect">
            <a:avLst>
              <a:gd name="adj" fmla="val 13333"/>
            </a:avLst>
          </a:prstGeom>
          <a:solidFill>
            <a:srgbClr val="16305C">
              <a:alpha val="85000"/>
            </a:srgbClr>
          </a:solidFill>
          <a:ln w="9525">
            <a:solidFill>
              <a:srgbClr val="3DD6C7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5208" y="47914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20–40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66648" y="5285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URL Features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95648" y="4709160"/>
            <a:ext cx="3200400" cy="960120"/>
          </a:xfrm>
          <a:prstGeom prst="roundRect">
            <a:avLst>
              <a:gd name="adj" fmla="val 13333"/>
            </a:avLst>
          </a:prstGeom>
          <a:solidFill>
            <a:srgbClr val="16305C">
              <a:alpha val="85000"/>
            </a:srgbClr>
          </a:solidFill>
          <a:ln w="9525">
            <a:solidFill>
              <a:srgbClr val="3DD6C7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95648" y="47914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587088" y="5285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Compared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16088" y="4709160"/>
            <a:ext cx="3200400" cy="960120"/>
          </a:xfrm>
          <a:prstGeom prst="roundRect">
            <a:avLst>
              <a:gd name="adj" fmla="val 13333"/>
            </a:avLst>
          </a:prstGeom>
          <a:solidFill>
            <a:srgbClr val="16305C">
              <a:alpha val="85000"/>
            </a:srgbClr>
          </a:solidFill>
          <a:ln w="9525">
            <a:solidFill>
              <a:srgbClr val="3DD6C7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16088" y="47914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107528" y="5285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Score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 ·  MACHINE LEARNING  ·  EXPLAINABLE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Phishing Detection Falls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0B1E3D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5" name="Image 0" descr="/home/claude/phishguard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642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Blacklist-Based Detection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198424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flags URLs already known to be malicious — useless against new phishing pages.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566928" cy="566928"/>
          </a:xfrm>
          <a:prstGeom prst="ellipse">
            <a:avLst/>
          </a:prstGeom>
          <a:solidFill>
            <a:srgbClr val="0B1E3D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9" name="Image 1" descr="/home/claude/phishguard/icons/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23651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0815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340156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IF–THEN rules are easy for attackers to bypass and hard to maintain at scale.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526280"/>
            <a:ext cx="566928" cy="566928"/>
          </a:xfrm>
          <a:prstGeom prst="ellipse">
            <a:avLst/>
          </a:prstGeom>
          <a:solidFill>
            <a:srgbClr val="0B1E3D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13" name="Image 2" descr="/home/claude/phishguard/icons/help-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4653839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4988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ML Output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481888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“Phishing / Legitimate” alone doesn’t explain why a URL is dangerous or how risky it is.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178040" y="1691640"/>
            <a:ext cx="4480560" cy="4434840"/>
          </a:xfrm>
          <a:prstGeom prst="roundRect">
            <a:avLst>
              <a:gd name="adj" fmla="val 2474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27000" dist="38100" dir="5400000">
              <a:srgbClr val="0B1E3D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0" y="2011680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18" name="Image 3" descr="/home/claude/phishguard/icons/alert-triang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1237" y="212483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3816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URL EXAMPLE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498080" y="265176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6305C"/>
          </a:solidFill>
          <a:ln/>
        </p:spPr>
      </p:sp>
      <p:sp>
        <p:nvSpPr>
          <p:cNvPr id="21" name="Text 15"/>
          <p:cNvSpPr/>
          <p:nvPr/>
        </p:nvSpPr>
        <p:spPr>
          <a:xfrm>
            <a:off x="7635240" y="2697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http://192.168.1.10/login/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verify-account-update.php?id=829392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749808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detector says “Phishing.” It never answers: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498080" y="4059936"/>
            <a:ext cx="82296" cy="8229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4" name="Text 18"/>
          <p:cNvSpPr/>
          <p:nvPr/>
        </p:nvSpPr>
        <p:spPr>
          <a:xfrm>
            <a:off x="7708392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the URL suspicious?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498080" y="4535424"/>
            <a:ext cx="82296" cy="8229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6" name="Text 20"/>
          <p:cNvSpPr/>
          <p:nvPr/>
        </p:nvSpPr>
        <p:spPr>
          <a:xfrm>
            <a:off x="7708392" y="4407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characteristics contributed most?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498080" y="5010912"/>
            <a:ext cx="82296" cy="8229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8" name="Text 22"/>
          <p:cNvSpPr/>
          <p:nvPr/>
        </p:nvSpPr>
        <p:spPr>
          <a:xfrm>
            <a:off x="7708392" y="48828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slightly suspicious or highly dangerous?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7498080" y="5486400"/>
            <a:ext cx="82296" cy="8229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30" name="Text 24"/>
          <p:cNvSpPr/>
          <p:nvPr/>
        </p:nvSpPr>
        <p:spPr>
          <a:xfrm>
            <a:off x="7708392" y="5358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analyst understand the decision?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Verdict to a Reasoned Risk Assessment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937760" cy="548640"/>
          </a:xfrm>
          <a:prstGeom prst="roundRect">
            <a:avLst>
              <a:gd name="adj" fmla="val 50000"/>
            </a:avLst>
          </a:prstGeom>
          <a:solidFill>
            <a:srgbClr val="16305C">
              <a:alpha val="80000"/>
            </a:srgbClr>
          </a:solidFill>
          <a:ln w="9525">
            <a:solidFill>
              <a:srgbClr val="9FB3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  →   Phishing / Safe   (no explanation)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960120" cy="960120"/>
          </a:xfrm>
          <a:prstGeom prst="ellipse">
            <a:avLst/>
          </a:prstGeom>
          <a:solidFill>
            <a:srgbClr val="16305C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7" name="Image 0" descr="/home/claude/phishguard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2571750"/>
            <a:ext cx="480060" cy="4800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34015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URL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563624" y="2729484"/>
            <a:ext cx="1463726" cy="164592"/>
          </a:xfrm>
          <a:prstGeom prst="rightArrow">
            <a:avLst/>
          </a:prstGeom>
          <a:solidFill>
            <a:srgbClr val="3DD6C7"/>
          </a:solidFill>
          <a:ln/>
        </p:spPr>
      </p:sp>
      <p:sp>
        <p:nvSpPr>
          <p:cNvPr id="10" name="Shape 7"/>
          <p:cNvSpPr/>
          <p:nvPr/>
        </p:nvSpPr>
        <p:spPr>
          <a:xfrm>
            <a:off x="3082214" y="2331720"/>
            <a:ext cx="960120" cy="960120"/>
          </a:xfrm>
          <a:prstGeom prst="ellipse">
            <a:avLst/>
          </a:prstGeom>
          <a:solidFill>
            <a:srgbClr val="16305C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11" name="Image 1" descr="/home/claude/phishguard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244" y="257175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62174" y="34015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097198" y="2729484"/>
            <a:ext cx="1463726" cy="164592"/>
          </a:xfrm>
          <a:prstGeom prst="rightArrow">
            <a:avLst/>
          </a:prstGeom>
          <a:solidFill>
            <a:srgbClr val="3DD6C7"/>
          </a:solidFill>
          <a:ln/>
        </p:spPr>
      </p:sp>
      <p:sp>
        <p:nvSpPr>
          <p:cNvPr id="14" name="Shape 10"/>
          <p:cNvSpPr/>
          <p:nvPr/>
        </p:nvSpPr>
        <p:spPr>
          <a:xfrm>
            <a:off x="5615788" y="2331720"/>
            <a:ext cx="960120" cy="960120"/>
          </a:xfrm>
          <a:prstGeom prst="ellipse">
            <a:avLst/>
          </a:prstGeom>
          <a:solidFill>
            <a:srgbClr val="16305C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15" name="Image 2" descr="/home/claude/phishguard/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818" y="2571750"/>
            <a:ext cx="480060" cy="4800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95748" y="34015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630772" y="2729484"/>
            <a:ext cx="1463726" cy="164592"/>
          </a:xfrm>
          <a:prstGeom prst="rightArrow">
            <a:avLst/>
          </a:prstGeom>
          <a:solidFill>
            <a:srgbClr val="3DD6C7"/>
          </a:solidFill>
          <a:ln/>
        </p:spPr>
      </p:sp>
      <p:sp>
        <p:nvSpPr>
          <p:cNvPr id="18" name="Shape 13"/>
          <p:cNvSpPr/>
          <p:nvPr/>
        </p:nvSpPr>
        <p:spPr>
          <a:xfrm>
            <a:off x="8149361" y="2331720"/>
            <a:ext cx="960120" cy="960120"/>
          </a:xfrm>
          <a:prstGeom prst="ellipse">
            <a:avLst/>
          </a:prstGeom>
          <a:solidFill>
            <a:srgbClr val="16305C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19" name="Image 3" descr="/home/claude/phishguard/icons/gau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391" y="2571750"/>
            <a:ext cx="480060" cy="4800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829321" y="34015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164345" y="2729484"/>
            <a:ext cx="1463726" cy="164592"/>
          </a:xfrm>
          <a:prstGeom prst="rightArrow">
            <a:avLst/>
          </a:prstGeom>
          <a:solidFill>
            <a:srgbClr val="3DD6C7"/>
          </a:solidFill>
          <a:ln/>
        </p:spPr>
      </p:sp>
      <p:sp>
        <p:nvSpPr>
          <p:cNvPr id="22" name="Shape 16"/>
          <p:cNvSpPr/>
          <p:nvPr/>
        </p:nvSpPr>
        <p:spPr>
          <a:xfrm>
            <a:off x="10682935" y="2331720"/>
            <a:ext cx="960120" cy="960120"/>
          </a:xfrm>
          <a:prstGeom prst="ellipse">
            <a:avLst/>
          </a:prstGeom>
          <a:solidFill>
            <a:srgbClr val="FF5A5F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23" name="Image 4" descr="/home/claude/phishguard/icons/mess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965" y="2571750"/>
            <a:ext cx="480060" cy="4800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362895" y="34015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4617720"/>
            <a:ext cx="11094415" cy="1783080"/>
          </a:xfrm>
          <a:prstGeom prst="roundRect">
            <a:avLst>
              <a:gd name="adj" fmla="val 6154"/>
            </a:avLst>
          </a:prstGeom>
          <a:solidFill>
            <a:srgbClr val="16305C">
              <a:alpha val="90000"/>
            </a:srgbClr>
          </a:solidFill>
          <a:ln w="9525">
            <a:solidFill>
              <a:srgbClr val="3DD6C7">
                <a:alpha val="4500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868680" y="4782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68680" y="50749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Score: 87 / 100 — Potential Phishing URL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868680" y="5733288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9" name="Text 22"/>
          <p:cNvSpPr/>
          <p:nvPr/>
        </p:nvSpPr>
        <p:spPr>
          <a:xfrm>
            <a:off x="1069848" y="5614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instead of domain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114800" y="5733288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31" name="Text 24"/>
          <p:cNvSpPr/>
          <p:nvPr/>
        </p:nvSpPr>
        <p:spPr>
          <a:xfrm>
            <a:off x="4315968" y="5614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subdirectories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68680" y="6080760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33" name="Text 26"/>
          <p:cNvSpPr/>
          <p:nvPr/>
        </p:nvSpPr>
        <p:spPr>
          <a:xfrm>
            <a:off x="1069848" y="59618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keywords: “login”, “verify”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114800" y="6080760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35" name="Text 28"/>
          <p:cNvSpPr/>
          <p:nvPr/>
        </p:nvSpPr>
        <p:spPr>
          <a:xfrm>
            <a:off x="4315968" y="59618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URL entropy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818120" y="4818888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scales to any</a:t>
            </a:r>
            <a:endParaRPr lang="en-US" sz="1250" dirty="0"/>
          </a:p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unseen URL — no</a:t>
            </a:r>
            <a:endParaRPr lang="en-US" sz="1250" dirty="0"/>
          </a:p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 lookup required.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Existing Phishing Detectors Miss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B1E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B1E3D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6" name="Image 0" descr="/home/claude/phishguard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91" y="20996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2432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Isn’t Enough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172968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vs 99% phishing probability are very different risks — yet both collapse to one label.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B1E3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1965960"/>
            <a:ext cx="594360" cy="594360"/>
          </a:xfrm>
          <a:prstGeom prst="ellipse">
            <a:avLst/>
          </a:prstGeom>
          <a:solidFill>
            <a:srgbClr val="0B1E3D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12" name="Image 1" descr="/home/claude/phishguard/icons/mes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251" y="209969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46520" y="262432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46520" y="28346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Human-Readable Explanations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446520" y="3172968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models (RF, XGBoost, LightGBM) behave as black boxes with no “why.”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B1E3D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0B1E3D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18" name="Image 2" descr="/home/claude/phishguard/icons/git-comp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1" y="4339971"/>
            <a:ext cx="326898" cy="3268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486460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22960" y="5074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vs. Engineered Features Untested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22960" y="5413248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use ready-made columns without measuring what feature engineering adds.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7220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B1E3D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46520" y="4206240"/>
            <a:ext cx="594360" cy="594360"/>
          </a:xfrm>
          <a:prstGeom prst="ellipse">
            <a:avLst/>
          </a:prstGeom>
          <a:solidFill>
            <a:srgbClr val="0B1E3D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24" name="Image 3" descr="/home/claude/phishguard/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251" y="4339971"/>
            <a:ext cx="326898" cy="32689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46520" y="486460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446520" y="5074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Over Usability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446520" y="5413248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alone doesn’t make a system usable by analysts or everyday users.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PhishGuard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68680" cy="868680"/>
          </a:xfrm>
          <a:prstGeom prst="ellipse">
            <a:avLst/>
          </a:prstGeom>
          <a:solidFill>
            <a:srgbClr val="16305C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5" name="Image 0" descr="/home/claude/phishguard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190881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Input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463040" y="2052828"/>
            <a:ext cx="1085027" cy="146304"/>
          </a:xfrm>
          <a:prstGeom prst="rightArrow">
            <a:avLst/>
          </a:prstGeom>
          <a:solidFill>
            <a:srgbClr val="3DD6C7"/>
          </a:solidFill>
          <a:ln/>
        </p:spPr>
      </p:sp>
      <p:sp>
        <p:nvSpPr>
          <p:cNvPr id="8" name="Shape 5"/>
          <p:cNvSpPr/>
          <p:nvPr/>
        </p:nvSpPr>
        <p:spPr>
          <a:xfrm>
            <a:off x="2593787" y="1691640"/>
            <a:ext cx="868680" cy="868680"/>
          </a:xfrm>
          <a:prstGeom prst="ellipse">
            <a:avLst/>
          </a:prstGeom>
          <a:solidFill>
            <a:srgbClr val="16305C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9" name="Image 1" descr="/home/claude/phishguard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957" y="1908810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82307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508187" y="2052828"/>
            <a:ext cx="1085027" cy="146304"/>
          </a:xfrm>
          <a:prstGeom prst="rightArrow">
            <a:avLst/>
          </a:prstGeom>
          <a:solidFill>
            <a:srgbClr val="3DD6C7"/>
          </a:solidFill>
          <a:ln/>
        </p:spPr>
      </p:sp>
      <p:sp>
        <p:nvSpPr>
          <p:cNvPr id="12" name="Shape 8"/>
          <p:cNvSpPr/>
          <p:nvPr/>
        </p:nvSpPr>
        <p:spPr>
          <a:xfrm>
            <a:off x="4638934" y="1691640"/>
            <a:ext cx="868680" cy="868680"/>
          </a:xfrm>
          <a:prstGeom prst="ellipse">
            <a:avLst/>
          </a:prstGeom>
          <a:solidFill>
            <a:srgbClr val="16305C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13" name="Image 2" descr="/home/claude/phishguard/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104" y="1908810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27454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553334" y="2052828"/>
            <a:ext cx="1085027" cy="146304"/>
          </a:xfrm>
          <a:prstGeom prst="rightArrow">
            <a:avLst/>
          </a:prstGeom>
          <a:solidFill>
            <a:srgbClr val="3DD6C7"/>
          </a:solidFill>
          <a:ln/>
        </p:spPr>
      </p:sp>
      <p:sp>
        <p:nvSpPr>
          <p:cNvPr id="16" name="Shape 11"/>
          <p:cNvSpPr/>
          <p:nvPr/>
        </p:nvSpPr>
        <p:spPr>
          <a:xfrm>
            <a:off x="6684081" y="1691640"/>
            <a:ext cx="868680" cy="868680"/>
          </a:xfrm>
          <a:prstGeom prst="ellipse">
            <a:avLst/>
          </a:prstGeom>
          <a:solidFill>
            <a:srgbClr val="16305C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17" name="Image 3" descr="/home/claude/phishguard/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1251" y="190881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72601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98481" y="2052828"/>
            <a:ext cx="1085027" cy="146304"/>
          </a:xfrm>
          <a:prstGeom prst="rightArrow">
            <a:avLst/>
          </a:prstGeom>
          <a:solidFill>
            <a:srgbClr val="3DD6C7"/>
          </a:solidFill>
          <a:ln/>
        </p:spPr>
      </p:sp>
      <p:sp>
        <p:nvSpPr>
          <p:cNvPr id="20" name="Shape 14"/>
          <p:cNvSpPr/>
          <p:nvPr/>
        </p:nvSpPr>
        <p:spPr>
          <a:xfrm>
            <a:off x="8729228" y="1691640"/>
            <a:ext cx="868680" cy="868680"/>
          </a:xfrm>
          <a:prstGeom prst="ellipse">
            <a:avLst/>
          </a:prstGeom>
          <a:solidFill>
            <a:srgbClr val="16305C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21" name="Image 4" descr="/home/claude/phishguard/icons/gau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6398" y="1908810"/>
            <a:ext cx="434340" cy="4343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17748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9643628" y="2052828"/>
            <a:ext cx="1085027" cy="146304"/>
          </a:xfrm>
          <a:prstGeom prst="rightArrow">
            <a:avLst/>
          </a:prstGeom>
          <a:solidFill>
            <a:srgbClr val="3DD6C7"/>
          </a:solidFill>
          <a:ln/>
        </p:spPr>
      </p:sp>
      <p:sp>
        <p:nvSpPr>
          <p:cNvPr id="24" name="Shape 17"/>
          <p:cNvSpPr/>
          <p:nvPr/>
        </p:nvSpPr>
        <p:spPr>
          <a:xfrm>
            <a:off x="10774375" y="1691640"/>
            <a:ext cx="868680" cy="868680"/>
          </a:xfrm>
          <a:prstGeom prst="ellipse">
            <a:avLst/>
          </a:prstGeom>
          <a:solidFill>
            <a:srgbClr val="FF5A5F"/>
          </a:solidFill>
          <a:ln/>
          <a:effectLst>
            <a:outerShdw sx="100000" sy="100000" kx="0" ky="0" algn="bl" rotWithShape="0" blurRad="76200" dist="25400" dir="5400000">
              <a:srgbClr val="0B1E3D">
                <a:alpha val="35000"/>
              </a:srgbClr>
            </a:outerShdw>
          </a:effectLst>
        </p:spPr>
      </p:sp>
      <p:pic>
        <p:nvPicPr>
          <p:cNvPr id="25" name="Image 5" descr="/home/claude/phishguard/icons/messa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1545" y="1908810"/>
            <a:ext cx="434340" cy="4343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362895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54864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48640" y="3749040"/>
            <a:ext cx="1848917" cy="384048"/>
          </a:xfrm>
          <a:prstGeom prst="roundRect">
            <a:avLst>
              <a:gd name="adj" fmla="val 50000"/>
            </a:avLst>
          </a:prstGeom>
          <a:solidFill>
            <a:srgbClr val="16305C"/>
          </a:solidFill>
          <a:ln/>
        </p:spPr>
      </p:sp>
      <p:sp>
        <p:nvSpPr>
          <p:cNvPr id="29" name="Text 21"/>
          <p:cNvSpPr/>
          <p:nvPr/>
        </p:nvSpPr>
        <p:spPr>
          <a:xfrm>
            <a:off x="548640" y="3749040"/>
            <a:ext cx="18489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2580437" y="3749040"/>
            <a:ext cx="1366114" cy="384048"/>
          </a:xfrm>
          <a:prstGeom prst="roundRect">
            <a:avLst>
              <a:gd name="adj" fmla="val 50000"/>
            </a:avLst>
          </a:prstGeom>
          <a:solidFill>
            <a:srgbClr val="16305C"/>
          </a:solidFill>
          <a:ln/>
        </p:spPr>
      </p:sp>
      <p:sp>
        <p:nvSpPr>
          <p:cNvPr id="31" name="Text 23"/>
          <p:cNvSpPr/>
          <p:nvPr/>
        </p:nvSpPr>
        <p:spPr>
          <a:xfrm>
            <a:off x="2580437" y="3749040"/>
            <a:ext cx="13661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4129430" y="3749040"/>
            <a:ext cx="883310" cy="384048"/>
          </a:xfrm>
          <a:prstGeom prst="roundRect">
            <a:avLst>
              <a:gd name="adj" fmla="val 50000"/>
            </a:avLst>
          </a:prstGeom>
          <a:solidFill>
            <a:srgbClr val="16305C"/>
          </a:solidFill>
          <a:ln/>
        </p:spPr>
      </p:sp>
      <p:sp>
        <p:nvSpPr>
          <p:cNvPr id="33" name="Text 25"/>
          <p:cNvSpPr/>
          <p:nvPr/>
        </p:nvSpPr>
        <p:spPr>
          <a:xfrm>
            <a:off x="4129430" y="3749040"/>
            <a:ext cx="8833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195621" y="3749040"/>
            <a:ext cx="963778" cy="384048"/>
          </a:xfrm>
          <a:prstGeom prst="roundRect">
            <a:avLst>
              <a:gd name="adj" fmla="val 50000"/>
            </a:avLst>
          </a:prstGeom>
          <a:solidFill>
            <a:srgbClr val="16305C"/>
          </a:solidFill>
          <a:ln/>
        </p:spPr>
      </p:sp>
      <p:sp>
        <p:nvSpPr>
          <p:cNvPr id="35" name="Text 27"/>
          <p:cNvSpPr/>
          <p:nvPr/>
        </p:nvSpPr>
        <p:spPr>
          <a:xfrm>
            <a:off x="5195621" y="3749040"/>
            <a:ext cx="963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48640" y="4434840"/>
            <a:ext cx="11094415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86868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— STREAMLIT REPORT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868680" y="50292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868680" y="5303520"/>
            <a:ext cx="243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</a:t>
            </a:r>
            <a:endParaRPr lang="en-US" sz="1600" dirty="0"/>
          </a:p>
        </p:txBody>
      </p:sp>
      <p:sp>
        <p:nvSpPr>
          <p:cNvPr id="40" name="Shape 32"/>
          <p:cNvSpPr/>
          <p:nvPr/>
        </p:nvSpPr>
        <p:spPr>
          <a:xfrm>
            <a:off x="3345104" y="4983480"/>
            <a:ext cx="0" cy="1005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3482264" y="50292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3482264" y="5303520"/>
            <a:ext cx="243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/ 100</a:t>
            </a:r>
            <a:endParaRPr lang="en-US" sz="1600" dirty="0"/>
          </a:p>
        </p:txBody>
      </p:sp>
      <p:sp>
        <p:nvSpPr>
          <p:cNvPr id="43" name="Shape 35"/>
          <p:cNvSpPr/>
          <p:nvPr/>
        </p:nvSpPr>
        <p:spPr>
          <a:xfrm>
            <a:off x="5958688" y="4983480"/>
            <a:ext cx="0" cy="1005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095848" y="50292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6095848" y="5303520"/>
            <a:ext cx="243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1600" dirty="0"/>
          </a:p>
        </p:txBody>
      </p:sp>
      <p:sp>
        <p:nvSpPr>
          <p:cNvPr id="46" name="Shape 38"/>
          <p:cNvSpPr/>
          <p:nvPr/>
        </p:nvSpPr>
        <p:spPr>
          <a:xfrm>
            <a:off x="8572271" y="4983480"/>
            <a:ext cx="0" cy="1005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8709431" y="50292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</a:t>
            </a:r>
            <a:endParaRPr lang="en-US" sz="950" dirty="0"/>
          </a:p>
        </p:txBody>
      </p:sp>
      <p:sp>
        <p:nvSpPr>
          <p:cNvPr id="48" name="Text 40"/>
          <p:cNvSpPr/>
          <p:nvPr/>
        </p:nvSpPr>
        <p:spPr>
          <a:xfrm>
            <a:off x="8709431" y="5303520"/>
            <a:ext cx="243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URL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 Be Achievable in 15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457200" cy="457200"/>
          </a:xfrm>
          <a:prstGeom prst="ellipse">
            <a:avLst/>
          </a:prstGeom>
          <a:solidFill>
            <a:srgbClr val="17A673"/>
          </a:solidFill>
          <a:ln/>
        </p:spPr>
      </p:sp>
      <p:pic>
        <p:nvPicPr>
          <p:cNvPr id="6" name="Image 0" descr="/home/claude/phishguard/icons/check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928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542032"/>
            <a:ext cx="73152" cy="73152"/>
          </a:xfrm>
          <a:prstGeom prst="ellipse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1078992" y="24140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URL-only lexical &amp; structural analysis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2935224"/>
            <a:ext cx="73152" cy="73152"/>
          </a:xfrm>
          <a:prstGeom prst="ellipse">
            <a:avLst/>
          </a:prstGeom>
          <a:solidFill>
            <a:srgbClr val="17A673"/>
          </a:solidFill>
          <a:ln/>
        </p:spPr>
      </p:sp>
      <p:sp>
        <p:nvSpPr>
          <p:cNvPr id="11" name="Text 8"/>
          <p:cNvSpPr/>
          <p:nvPr/>
        </p:nvSpPr>
        <p:spPr>
          <a:xfrm>
            <a:off x="1078992" y="2807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 engineered features across 4 categories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" y="3328416"/>
            <a:ext cx="73152" cy="73152"/>
          </a:xfrm>
          <a:prstGeom prst="ellipse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RF, XGBoost, LightGBM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" y="3721608"/>
            <a:ext cx="73152" cy="73152"/>
          </a:xfrm>
          <a:prstGeom prst="ellipse">
            <a:avLst/>
          </a:prstGeom>
          <a:solidFill>
            <a:srgbClr val="17A673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3593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global feature importance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68680" y="4114800"/>
            <a:ext cx="73152" cy="73152"/>
          </a:xfrm>
          <a:prstGeom prst="ellipse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1078992" y="39867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deployment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99632" y="160020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0B1E3D"/>
          </a:solidFill>
          <a:ln/>
        </p:spPr>
      </p:sp>
      <p:sp>
        <p:nvSpPr>
          <p:cNvPr id="19" name="Shape 16"/>
          <p:cNvSpPr/>
          <p:nvPr/>
        </p:nvSpPr>
        <p:spPr>
          <a:xfrm>
            <a:off x="6519672" y="1874520"/>
            <a:ext cx="457200" cy="45720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20" name="Image 1" descr="/home/claude/phishguard/icons/x-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52" y="194310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14032" y="1892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(v1)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6519672" y="2542032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3" name="Text 19"/>
          <p:cNvSpPr/>
          <p:nvPr/>
        </p:nvSpPr>
        <p:spPr>
          <a:xfrm>
            <a:off x="6729984" y="24140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 scraping / webpage content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519672" y="2935224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5" name="Text 21"/>
          <p:cNvSpPr/>
          <p:nvPr/>
        </p:nvSpPr>
        <p:spPr>
          <a:xfrm>
            <a:off x="6729984" y="2807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analysis &amp; network packet inspection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519672" y="3328416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7" name="Text 23"/>
          <p:cNvSpPr/>
          <p:nvPr/>
        </p:nvSpPr>
        <p:spPr>
          <a:xfrm>
            <a:off x="6729984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DNS / full WHOIS dependency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519672" y="3721608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9" name="Text 25"/>
          <p:cNvSpPr/>
          <p:nvPr/>
        </p:nvSpPr>
        <p:spPr>
          <a:xfrm>
            <a:off x="6729984" y="3593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development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519672" y="4114800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31" name="Text 27"/>
          <p:cNvSpPr/>
          <p:nvPr/>
        </p:nvSpPr>
        <p:spPr>
          <a:xfrm>
            <a:off x="6729984" y="39867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48640" y="5074920"/>
            <a:ext cx="2567864" cy="685800"/>
          </a:xfrm>
          <a:prstGeom prst="roundRect">
            <a:avLst>
              <a:gd name="adj" fmla="val 12000"/>
            </a:avLst>
          </a:prstGeom>
          <a:solidFill>
            <a:srgbClr val="16305C"/>
          </a:solidFill>
          <a:ln/>
        </p:spPr>
      </p:sp>
      <p:sp>
        <p:nvSpPr>
          <p:cNvPr id="34" name="Text 30"/>
          <p:cNvSpPr/>
          <p:nvPr/>
        </p:nvSpPr>
        <p:spPr>
          <a:xfrm>
            <a:off x="548640" y="507492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3390824" y="5074920"/>
            <a:ext cx="2567864" cy="685800"/>
          </a:xfrm>
          <a:prstGeom prst="roundRect">
            <a:avLst>
              <a:gd name="adj" fmla="val 12000"/>
            </a:avLst>
          </a:prstGeom>
          <a:solidFill>
            <a:srgbClr val="16305C"/>
          </a:solidFill>
          <a:ln/>
        </p:spPr>
      </p:sp>
      <p:sp>
        <p:nvSpPr>
          <p:cNvPr id="36" name="Text 32"/>
          <p:cNvSpPr/>
          <p:nvPr/>
        </p:nvSpPr>
        <p:spPr>
          <a:xfrm>
            <a:off x="3390824" y="507492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6233008" y="5074920"/>
            <a:ext cx="2567864" cy="685800"/>
          </a:xfrm>
          <a:prstGeom prst="roundRect">
            <a:avLst>
              <a:gd name="adj" fmla="val 12000"/>
            </a:avLst>
          </a:prstGeom>
          <a:solidFill>
            <a:srgbClr val="16305C"/>
          </a:solidFill>
          <a:ln/>
        </p:spPr>
      </p:sp>
      <p:sp>
        <p:nvSpPr>
          <p:cNvPr id="38" name="Text 34"/>
          <p:cNvSpPr/>
          <p:nvPr/>
        </p:nvSpPr>
        <p:spPr>
          <a:xfrm>
            <a:off x="6233008" y="507492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9075191" y="5074920"/>
            <a:ext cx="2567864" cy="685800"/>
          </a:xfrm>
          <a:prstGeom prst="roundRect">
            <a:avLst>
              <a:gd name="adj" fmla="val 12000"/>
            </a:avLst>
          </a:prstGeom>
          <a:solidFill>
            <a:srgbClr val="16305C"/>
          </a:solidFill>
          <a:ln/>
        </p:spPr>
      </p:sp>
      <p:sp>
        <p:nvSpPr>
          <p:cNvPr id="40" name="Text 36"/>
          <p:cNvSpPr/>
          <p:nvPr/>
        </p:nvSpPr>
        <p:spPr>
          <a:xfrm>
            <a:off x="9075191" y="507492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RESEARCH QUESTIONS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Aim to Prove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16305C">
              <a:alpha val="90000"/>
            </a:srgbClr>
          </a:solidFill>
          <a:ln w="9525">
            <a:solidFill>
              <a:srgbClr val="3DD6C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73936"/>
            <a:ext cx="621792" cy="621792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6" name="Image 0" descr="/home/claude/phishguard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" y="1913839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007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00200" y="196596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potentially phishing URLs from structural &amp; lexical features while producing an interpretable 0–100 risk score with a plain-language explanation.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16305C">
              <a:alpha val="8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337413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" y="3685032"/>
            <a:ext cx="31434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effectively can lexical &amp; structural URL features distinguish phishing from legitimate URLs?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22978" y="324612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16305C">
              <a:alpha val="8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524146" y="337413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24146" y="3685032"/>
            <a:ext cx="31434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advanced feature engineering improve detection over basic URL features?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97317" y="324612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16305C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298485" y="337413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98485" y="3685032"/>
            <a:ext cx="31434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URL characteristics contribute most to phishing predictions?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466344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16305C">
              <a:alpha val="8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47914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49808" y="5102352"/>
            <a:ext cx="31434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prediction probabilities become a meaningful phishing risk score?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322978" y="466344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16305C">
              <a:alpha val="8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524146" y="47914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524146" y="5102352"/>
            <a:ext cx="31434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explainable AI improve interpretability and usability of the system?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Prediction to Real-World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27000" dist="38100" dir="5400000">
              <a:srgbClr val="0B1E3D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105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SECURITY 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2140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secure-login-verify.xyz/account?id=8273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1188720" cy="118872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8" name="Image 0" descr="/home/claude/phishguard/icons/shield-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142" y="2827782"/>
            <a:ext cx="653796" cy="6537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40280" y="25420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2240280" y="30906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68680" y="3840480"/>
            <a:ext cx="4434840" cy="0"/>
          </a:xfrm>
          <a:prstGeom prst="line">
            <a:avLst/>
          </a:prstGeom>
          <a:noFill/>
          <a:ln w="12700">
            <a:solidFill>
              <a:srgbClr val="1630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9776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D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SUSPICIOUS INDICATORS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68680" y="4389120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42702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keywords: “login”, “verify”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68680" y="4754880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7" name="Text 14"/>
          <p:cNvSpPr/>
          <p:nvPr/>
        </p:nvSpPr>
        <p:spPr>
          <a:xfrm>
            <a:off x="1078992" y="46360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domain extension (.xyz)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68680" y="5120640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9" name="Text 16"/>
          <p:cNvSpPr/>
          <p:nvPr/>
        </p:nvSpPr>
        <p:spPr>
          <a:xfrm>
            <a:off x="1078992" y="500176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URL entropy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68680" y="5486400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1" name="Text 18"/>
          <p:cNvSpPr/>
          <p:nvPr/>
        </p:nvSpPr>
        <p:spPr>
          <a:xfrm>
            <a:off x="1078992" y="53675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URL length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0350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35040" y="2011680"/>
            <a:ext cx="2606040" cy="1115568"/>
          </a:xfrm>
          <a:prstGeom prst="roundRect">
            <a:avLst>
              <a:gd name="adj" fmla="val 819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0B1E3D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7920" y="2176272"/>
            <a:ext cx="420624" cy="420624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5" name="Image 1" descr="/home/claude/phishguard/icons/m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560" y="2270912"/>
            <a:ext cx="231343" cy="23134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217920" y="267004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Security Systems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8869680" y="2011680"/>
            <a:ext cx="2606040" cy="1115568"/>
          </a:xfrm>
          <a:prstGeom prst="roundRect">
            <a:avLst>
              <a:gd name="adj" fmla="val 819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0B1E3D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9052560" y="2176272"/>
            <a:ext cx="420624" cy="420624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9" name="Image 2" descr="/home/claude/phishguard/icons/moni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7200" y="2270912"/>
            <a:ext cx="231343" cy="23134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052560" y="267004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Security Tools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035040" y="3310128"/>
            <a:ext cx="2606040" cy="1115568"/>
          </a:xfrm>
          <a:prstGeom prst="roundRect">
            <a:avLst>
              <a:gd name="adj" fmla="val 819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0B1E3D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217920" y="3474720"/>
            <a:ext cx="420624" cy="420624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33" name="Image 3" descr="/home/claude/phishguard/icons/shield-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560" y="3569360"/>
            <a:ext cx="231343" cy="23134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217920" y="39684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Cyber Monitoring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8869680" y="3310128"/>
            <a:ext cx="2606040" cy="1115568"/>
          </a:xfrm>
          <a:prstGeom prst="roundRect">
            <a:avLst>
              <a:gd name="adj" fmla="val 819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0B1E3D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9052560" y="3474720"/>
            <a:ext cx="420624" cy="420624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37" name="Image 4" descr="/home/claude/phishguard/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7200" y="3569360"/>
            <a:ext cx="231343" cy="231343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052560" y="39684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Assistance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035040" y="4608576"/>
            <a:ext cx="2606040" cy="1115568"/>
          </a:xfrm>
          <a:prstGeom prst="roundRect">
            <a:avLst>
              <a:gd name="adj" fmla="val 819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0B1E3D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217920" y="4773168"/>
            <a:ext cx="420624" cy="420624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41" name="Image 5" descr="/home/claude/phishguard/icons/gradu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2560" y="4867808"/>
            <a:ext cx="231343" cy="231343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217920" y="526694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Education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8869680" y="4608576"/>
            <a:ext cx="2606040" cy="1115568"/>
          </a:xfrm>
          <a:prstGeom prst="roundRect">
            <a:avLst>
              <a:gd name="adj" fmla="val 819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0B1E3D">
                <a:alpha val="10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9052560" y="4773168"/>
            <a:ext cx="420624" cy="420624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45" name="Image 6" descr="/home/claude/phishguard/icons/glob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7200" y="4867808"/>
            <a:ext cx="231343" cy="231343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9052560" y="526694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 Screening</a:t>
            </a:r>
            <a:endParaRPr lang="en-US" sz="1050" dirty="0"/>
          </a:p>
        </p:txBody>
      </p:sp>
      <p:sp>
        <p:nvSpPr>
          <p:cNvPr id="47" name="Text 38"/>
          <p:cNvSpPr/>
          <p:nvPr/>
        </p:nvSpPr>
        <p:spPr>
          <a:xfrm>
            <a:off x="6035040" y="61722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risk-assessment tool — not an absolute guarantee of website safety.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2026-08-18T06:12:38Z</dcterms:created>
  <dcterms:modified xsi:type="dcterms:W3CDTF">2026-08-18T06:12:38Z</dcterms:modified>
</cp:coreProperties>
</file>